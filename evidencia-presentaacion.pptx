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BB123-50CA-2A03-38C1-137426005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D65E20-6D33-E9C9-2CFB-E797EF203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7B1CE0-5852-7FC1-528E-1477F17B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6BE632-A847-6461-5824-BB7E7621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0ED773-2542-0DF6-E562-A32A5B70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0159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8BBAD-1C55-2DA9-73DC-C2A03ABAF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78DFAA-4624-B898-7FD2-041344805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9A9897-2964-773C-92A3-5C3CC7A6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E8758E-9848-C3C9-1868-4EB886DC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F5A8D7-E731-6F3E-0E6E-E5C1F918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993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88549-C078-FBE9-AF6D-5724DB4C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3807D7-D891-E15F-DD12-FB0A475A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F7DAA0-1572-088A-CBE2-ED0405C1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20192D-2C3F-F91E-ECD0-A82179B4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6FBAF3-7306-82B0-3EC7-3092727E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3616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8944D-73EF-D3B8-2C47-26BE0661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AD2049-6091-0A55-E488-D2FD6F59F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C59B90-3F9E-35C7-60F1-D52E6153E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0844BC-EB2B-B281-911B-029CCC18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FA59BD-0698-EFFA-8D5C-ED471615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1EFDCA-A72E-69BE-8A46-620288B9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2621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9CCE79-1532-8869-52DF-902A0D53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5E0E31-D9CC-CAB4-B823-888435F06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BFB858-505B-600D-0AEC-2CEA55351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D180A3-37AB-AB02-7813-543F48C2E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3BE9A9A-89D6-C14E-4114-D77F64AB2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EA3BA91-32CE-8796-49EB-0B104B40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3549DFF-F09D-610F-D935-A1B7393B0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7446DC-1DEB-1ED1-6E97-46717165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1198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6E60A-431D-A02A-2D7F-D8D71D02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C22CB4-155E-6F94-0C11-3CCA191C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9A9A33-6F57-5738-1FF2-3AD50B06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18A0AC-13FD-B02E-10D9-4532316F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3298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7346182-2997-4F59-38EA-748F4578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929C70-F609-F6C1-1833-8252EAE9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5F3CFA-840C-F484-3BFD-2249BDD8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46582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201EB-88CF-7DFA-248C-F263CBD5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BB21CC-6C5C-77C1-996A-1B3ED8C4C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E73F97-770D-566B-F2C7-A720CC910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31C5B6-77AE-C15E-2814-118FD61F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1DA2F2-3EDF-CCEA-BF5D-F1413CB8A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539883-F3C7-CEBE-6F04-5FFE02F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9644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6F553-7360-2D95-5A82-BFDEC440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5BF347B-EF11-776C-A8EF-47E11699E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289E74-FFCE-F9CA-D19B-9F8783E7B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A4CEC7-2DDE-AFC8-D664-95AD0BB4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E872CC-7153-1142-73B6-8F0C376CC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4378C1-4A2B-7611-149A-049837F0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46501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834D6-D90E-4CA3-8FAF-5C68FA8E8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F6F4AC-EDEE-5AAB-5A49-6FDF308FA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0F0393-C87D-E2CF-6E30-98A0E429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3C5E5A-4CC5-7D10-81DF-03BD00FEF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82780-77AF-CB2E-4042-111A5388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0144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873D9A-4FF1-193A-696B-8A4584766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4483A4-4027-2439-A6DF-5FD7809CF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975E5-A6A2-4248-83EA-67AA8611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2A6D52-4F09-600E-F0A0-B58D7629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9FCFEE-AEFA-F139-A22E-53C0E7B8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3547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566072-4679-B6E0-3D7F-83C94421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FE1CBB-6DF8-25C3-EC73-989911E58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69858-D02F-D408-BD50-00E5C5A61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EF6F6-ABFB-4728-9675-4AB230A3112B}" type="datetimeFigureOut">
              <a:rPr lang="es-GT" smtClean="0"/>
              <a:t>16/11/2025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D79C50-21FE-96B3-8DBB-C0383DA1F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AB0402-DBA0-EA91-1F03-8E5631954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AD7B6-D30C-41FC-A36C-6C575CA5CF67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7526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B480C-A72F-9479-D3E1-D8BE8AB52D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186779-FB22-C7A9-267F-272F7F5E19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2698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49AC4-3B33-4FEF-16F0-E6612884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FD522B29-2052-FF3E-EC24-D48A8F2BE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7417" y="1923840"/>
            <a:ext cx="3343742" cy="3000794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598306-36F4-69EB-024A-29CC77C81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Se crea el ambiente y las rutas del </a:t>
            </a:r>
            <a:r>
              <a:rPr lang="es-ES" dirty="0" err="1"/>
              <a:t>laboarotio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241895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AF1B2-1C9E-0B58-6FB4-FE92E25B9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consumer_3bytes_plot.py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E1267A-1CB5-6F3E-DE8F-C49900087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BE5B9A-7BEF-A385-4601-4A7E602B5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Recibe los 3 bytes, los decodifica con decode_reading_from_3bytes y grafica T/H igual que la versión JSON. Confirma que el flujo funciona igual con </a:t>
            </a:r>
            <a:r>
              <a:rPr lang="es-ES" dirty="0" err="1"/>
              <a:t>payload</a:t>
            </a:r>
            <a:r>
              <a:rPr lang="es-ES" dirty="0"/>
              <a:t> compacto.</a:t>
            </a:r>
            <a:endParaRPr lang="es-GT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570E533-7161-5EF5-C40B-FE100499D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571" y="604454"/>
            <a:ext cx="5220429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68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BF7C-066D-D558-48FC-77EC6451F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3BF7A-7D1C-44F4-86C7-CD360422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consumer_json_plot.py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EF07F6-2EB6-E281-DE21-E7090805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A1F2F4-2630-719C-0DAB-59856C65A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Se suscribe al </a:t>
            </a:r>
            <a:r>
              <a:rPr lang="es-ES" dirty="0" err="1"/>
              <a:t>topic</a:t>
            </a:r>
            <a:r>
              <a:rPr lang="es-ES" dirty="0"/>
              <a:t>, lee los JSON y actualiza dos gráficas (T °C y H %) en tiempo real con </a:t>
            </a:r>
            <a:r>
              <a:rPr lang="es-ES" dirty="0" err="1"/>
              <a:t>matplotlib</a:t>
            </a:r>
            <a:r>
              <a:rPr lang="es-ES" dirty="0"/>
              <a:t>. Verifica recepción y visualización continua.</a:t>
            </a:r>
            <a:endParaRPr lang="es-GT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DE6C86-7790-D1EB-BC71-015F5012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251" y="-4763"/>
            <a:ext cx="4618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7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ED9F-8AC1-3871-BEF9-A67488B1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53980-8CE9-EB1C-0AC8-50CEF8E0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producer_3bytes.py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F3F630-9C4C-B1AA-F933-71059C9F3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F89323-9EE2-97A7-3622-1FE603A92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Simula la lectura y, en lugar de JSON, empaqueta y envía exactamente 3 bytes por mensaje usando encode_reading_to_3bytes. Demuestra ahorro de ancho de banda.</a:t>
            </a:r>
            <a:endParaRPr lang="es-GT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1F4F51-4C90-CFB4-B626-5E1EDAFC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877" y="457200"/>
            <a:ext cx="759248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8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5EA47-D8BD-2710-D07D-1A1402736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producer_json.py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5B223C-B55D-C09A-D957-8B268E051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67E2F4-198C-0552-877B-A09A15897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Genera lecturas simuladas (temperatura, humedad, viento) y las envía al </a:t>
            </a:r>
            <a:r>
              <a:rPr lang="es-ES" dirty="0" err="1"/>
              <a:t>broker</a:t>
            </a:r>
            <a:r>
              <a:rPr lang="es-ES" dirty="0"/>
              <a:t> Kafka en formato JSON cada ~20 s. Sirve para probar el flujo Pub/Sub “real” con datos legibles.</a:t>
            </a:r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E0213F-9F86-17CA-0FF4-063830AD5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104" y="685002"/>
            <a:ext cx="6068272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25ED33-7B0F-B5B6-32C0-98E4A6DC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60" y="-800100"/>
            <a:ext cx="4875212" cy="1046988"/>
          </a:xfrm>
        </p:spPr>
        <p:txBody>
          <a:bodyPr/>
          <a:lstStyle/>
          <a:p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2E20AE-9322-62BA-7FC0-FC0B65258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DF7631-7206-D924-178B-49F2F76B5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855" y="586368"/>
            <a:ext cx="4875212" cy="3811588"/>
          </a:xfrm>
        </p:spPr>
        <p:txBody>
          <a:bodyPr>
            <a:normAutofit lnSpcReduction="10000"/>
          </a:bodyPr>
          <a:lstStyle/>
          <a:p>
            <a:r>
              <a:rPr lang="es-ES" dirty="0"/>
              <a:t>Se verificó de extremo a extremo el flujo con JSON: el </a:t>
            </a:r>
            <a:r>
              <a:rPr lang="es-ES" dirty="0" err="1"/>
              <a:t>producer</a:t>
            </a:r>
            <a:r>
              <a:rPr lang="es-ES" dirty="0"/>
              <a:t> se conectó al </a:t>
            </a:r>
            <a:r>
              <a:rPr lang="es-ES" dirty="0" err="1"/>
              <a:t>broker</a:t>
            </a:r>
            <a:r>
              <a:rPr lang="es-ES" dirty="0"/>
              <a:t> iot.redesuvg.cloud:9092 y publicó periódicamente en el </a:t>
            </a:r>
            <a:r>
              <a:rPr lang="es-ES" dirty="0" err="1"/>
              <a:t>topic</a:t>
            </a:r>
            <a:r>
              <a:rPr lang="es-ES" dirty="0"/>
              <a:t> de mi carné lecturas válidas de la estación (temperatura, humedad y dirección del viento), mientras el </a:t>
            </a:r>
            <a:r>
              <a:rPr lang="es-ES" dirty="0" err="1"/>
              <a:t>consumer</a:t>
            </a:r>
            <a:r>
              <a:rPr lang="es-ES" dirty="0"/>
              <a:t> se suscribió al mismo </a:t>
            </a:r>
            <a:r>
              <a:rPr lang="es-ES" dirty="0" err="1"/>
              <a:t>topic</a:t>
            </a:r>
            <a:r>
              <a:rPr lang="es-ES" dirty="0"/>
              <a:t>, recibió los mensajes sin errores y actualizó en vivo dos gráficas en </a:t>
            </a:r>
            <a:r>
              <a:rPr lang="es-ES" dirty="0" err="1"/>
              <a:t>matplotlib</a:t>
            </a:r>
            <a:r>
              <a:rPr lang="es-ES" dirty="0"/>
              <a:t> (temperatura °C y humedad % vs. número de muestra). </a:t>
            </a:r>
          </a:p>
          <a:p>
            <a:r>
              <a:rPr lang="es-ES" dirty="0"/>
              <a:t>Las consolas evidencian la conectividad (mensajes “Enviando a </a:t>
            </a:r>
            <a:r>
              <a:rPr lang="es-ES" dirty="0" err="1"/>
              <a:t>topic</a:t>
            </a:r>
            <a:r>
              <a:rPr lang="es-ES" dirty="0"/>
              <a:t>…” y “Escuchando </a:t>
            </a:r>
            <a:r>
              <a:rPr lang="es-ES" dirty="0" err="1"/>
              <a:t>topic</a:t>
            </a:r>
            <a:r>
              <a:rPr lang="es-ES" dirty="0"/>
              <a:t>…”) y múltiples envíos/recepciones consecutivas; las figuras muestran una serie temporal coherente con variaciones realistas, lo que confirma que la simulación, la publicación en Kafka y la visualización funcionan correctamente y están listas para repetir el flujo con el </a:t>
            </a:r>
            <a:r>
              <a:rPr lang="es-ES" dirty="0" err="1"/>
              <a:t>payload</a:t>
            </a:r>
            <a:r>
              <a:rPr lang="es-ES" dirty="0"/>
              <a:t> compactado de 3 bytes</a:t>
            </a:r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3C1008-270F-540D-4F47-E7C867C7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48" y="4184224"/>
            <a:ext cx="10413651" cy="26737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67AF9A5-A755-72E6-852B-E99AE3A8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817" y="564137"/>
            <a:ext cx="3643540" cy="31451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E509D21-3A2A-2E35-0D4D-B3F0D3A61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357" y="538303"/>
            <a:ext cx="3643540" cy="319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54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79A11-EE0E-31BB-E2DB-44D69DB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52" y="246888"/>
            <a:ext cx="5103812" cy="576072"/>
          </a:xfrm>
        </p:spPr>
        <p:txBody>
          <a:bodyPr/>
          <a:lstStyle/>
          <a:p>
            <a:r>
              <a:rPr lang="es-ES" dirty="0"/>
              <a:t>Flujo con 3 bytes (24 bits)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A53485-97F1-27DA-2DC2-C2785F98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0" y="868681"/>
            <a:ext cx="2668588" cy="3811587"/>
          </a:xfrm>
        </p:spPr>
        <p:txBody>
          <a:bodyPr/>
          <a:lstStyle/>
          <a:p>
            <a:endParaRPr lang="es-G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3F376F-5158-9752-84DC-8A2513962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2044" y="868680"/>
            <a:ext cx="4463732" cy="2560320"/>
          </a:xfrm>
        </p:spPr>
        <p:txBody>
          <a:bodyPr/>
          <a:lstStyle/>
          <a:p>
            <a:r>
              <a:rPr lang="es-ES" dirty="0"/>
              <a:t>Con el </a:t>
            </a:r>
            <a:r>
              <a:rPr lang="es-ES" dirty="0" err="1"/>
              <a:t>payload</a:t>
            </a:r>
            <a:r>
              <a:rPr lang="es-ES" dirty="0"/>
              <a:t> de 3 bytes empaquetamos cada lectura (14 bits temp×100, 3 bits viento, 7 bits humedad) y el </a:t>
            </a:r>
            <a:r>
              <a:rPr lang="es-ES" dirty="0" err="1"/>
              <a:t>producer</a:t>
            </a:r>
            <a:r>
              <a:rPr lang="es-ES" dirty="0"/>
              <a:t> confirma </a:t>
            </a:r>
            <a:r>
              <a:rPr lang="es-ES" dirty="0" err="1"/>
              <a:t>len</a:t>
            </a:r>
            <a:r>
              <a:rPr lang="es-ES" dirty="0"/>
              <a:t>=3 en cada envío. El </a:t>
            </a:r>
            <a:r>
              <a:rPr lang="es-ES" dirty="0" err="1"/>
              <a:t>consumer</a:t>
            </a:r>
            <a:r>
              <a:rPr lang="es-ES" dirty="0"/>
              <a:t> decodifica correctamente (muestra decodificado: {...}) y las gráficas de temperatura y humedad mantienen el mismo patrón que con JSON. Resultado: misma información útil con mucho menos ancho de banda, validando el flujo </a:t>
            </a:r>
            <a:r>
              <a:rPr lang="es-ES" dirty="0" err="1"/>
              <a:t>encode</a:t>
            </a:r>
            <a:r>
              <a:rPr lang="es-ES" dirty="0"/>
              <a:t> → Kafka → </a:t>
            </a:r>
            <a:r>
              <a:rPr lang="es-ES" dirty="0" err="1"/>
              <a:t>decode</a:t>
            </a:r>
            <a:r>
              <a:rPr lang="es-ES" dirty="0"/>
              <a:t> → visualización.</a:t>
            </a:r>
            <a:endParaRPr lang="es-GT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074A930-DA95-1DA2-C71C-C02DBF3F6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91" y="3542837"/>
            <a:ext cx="11946017" cy="33151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05D46B3-D1F6-73A5-A3D5-CAA4141E4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09" y="659927"/>
            <a:ext cx="3561300" cy="306776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A6741E5-B016-61E8-0DE9-6C857B72B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409" y="634341"/>
            <a:ext cx="3561299" cy="31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9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847A45E-8A54-BDA9-AA2E-AC4349CBE560}"/>
              </a:ext>
            </a:extLst>
          </p:cNvPr>
          <p:cNvSpPr txBox="1"/>
          <p:nvPr/>
        </p:nvSpPr>
        <p:spPr>
          <a:xfrm>
            <a:off x="349758" y="233279"/>
            <a:ext cx="1098880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s-ES" dirty="0"/>
              <a:t>¿Qué ventajas y desventajas tiene el acercamiento Pub/Sub de Kafka?</a:t>
            </a:r>
            <a:br>
              <a:rPr lang="es-ES" dirty="0"/>
            </a:br>
            <a:endParaRPr lang="es-ES" dirty="0"/>
          </a:p>
          <a:p>
            <a:r>
              <a:rPr lang="es-ES" dirty="0"/>
              <a:t>El enfoque Pub/Sub de Kafka ofrece como ventajas el desacoplamiento entre productores y consumidores en tiempo y espacio, alto rendimiento y escalabilidad mediante particiones, persistencia del log que permite reprocesar (replay) y tolerancia a fallos con </a:t>
            </a:r>
            <a:r>
              <a:rPr lang="es-ES" dirty="0" err="1"/>
              <a:t>consumer</a:t>
            </a:r>
            <a:r>
              <a:rPr lang="es-ES" dirty="0"/>
              <a:t> </a:t>
            </a:r>
            <a:r>
              <a:rPr lang="es-ES" dirty="0" err="1"/>
              <a:t>groups</a:t>
            </a:r>
            <a:r>
              <a:rPr lang="es-ES" dirty="0"/>
              <a:t>; como desventajas, exige operar un clúster con mayor complejidad y curva de aprendizaje, introduce más latencia que una llamada RPC directa, puede ser excesivo cuando el tráfico es mínimo y requiere gestionar esquemas/versionado de mensajes.</a:t>
            </a:r>
          </a:p>
          <a:p>
            <a:pPr marL="342900" indent="-342900">
              <a:buAutoNum type="arabicParenR"/>
            </a:pPr>
            <a:endParaRPr lang="es-ES" dirty="0"/>
          </a:p>
          <a:p>
            <a:r>
              <a:rPr lang="es-ES" dirty="0"/>
              <a:t>2) ¿Para qué aplicaciones tiene sentido usar Kafka? ¿Para cuáles no?</a:t>
            </a:r>
            <a:br>
              <a:rPr lang="es-ES" dirty="0"/>
            </a:br>
            <a:endParaRPr lang="es-ES" dirty="0"/>
          </a:p>
          <a:p>
            <a:r>
              <a:rPr lang="es-ES" dirty="0"/>
              <a:t>Kafka tiene sentido en telemetría/</a:t>
            </a:r>
            <a:r>
              <a:rPr lang="es-ES" dirty="0" err="1"/>
              <a:t>IoT</a:t>
            </a:r>
            <a:r>
              <a:rPr lang="es-ES" dirty="0"/>
              <a:t>, recolección de logs y métricas, ingesta masiva y ETL en </a:t>
            </a:r>
            <a:r>
              <a:rPr lang="es-ES" dirty="0" err="1"/>
              <a:t>streaming</a:t>
            </a:r>
            <a:r>
              <a:rPr lang="es-ES" dirty="0"/>
              <a:t>, analítica en tiempo real y arquitecturas de microservicios impulsadas por eventos; no es ideal para peticiones sincrónicas de muy baja latencia (p. ej., </a:t>
            </a:r>
            <a:r>
              <a:rPr lang="es-ES" dirty="0" err="1"/>
              <a:t>login</a:t>
            </a:r>
            <a:r>
              <a:rPr lang="es-ES" dirty="0"/>
              <a:t> o cobros), para mensajería esporádica y diminuta donde el </a:t>
            </a:r>
            <a:r>
              <a:rPr lang="es-ES" dirty="0" err="1"/>
              <a:t>overhead</a:t>
            </a:r>
            <a:r>
              <a:rPr lang="es-ES" dirty="0"/>
              <a:t> domina, ni para transferencias punto a punto de archivos grandes.</a:t>
            </a:r>
          </a:p>
          <a:p>
            <a:br>
              <a:rPr lang="es-ES" dirty="0"/>
            </a:br>
            <a:r>
              <a:rPr lang="es-ES" dirty="0"/>
              <a:t>3) ¿Cuánto es 2^14?</a:t>
            </a:r>
          </a:p>
          <a:p>
            <a:endParaRPr lang="es-ES" dirty="0"/>
          </a:p>
          <a:p>
            <a:r>
              <a:rPr lang="es-ES" dirty="0"/>
              <a:t>2^14 es 16,384.</a:t>
            </a:r>
          </a:p>
          <a:p>
            <a:endParaRPr lang="es-ES" dirty="0"/>
          </a:p>
          <a:p>
            <a:r>
              <a:rPr lang="es-ES" dirty="0"/>
              <a:t>4) Rango de temperatura y cabida en 14 bits: ¿cómo hacer que entre?</a:t>
            </a:r>
            <a:br>
              <a:rPr lang="es-ES" dirty="0"/>
            </a:br>
            <a:endParaRPr lang="es-ES" dirty="0"/>
          </a:p>
          <a:p>
            <a:r>
              <a:rPr lang="es-ES" dirty="0"/>
              <a:t>Con el rango de temperatura de 0–110.00 °C (dos decimales), basta usar escala fija: convertir T a entero con </a:t>
            </a:r>
            <a:r>
              <a:rPr lang="es-ES" dirty="0" err="1"/>
              <a:t>T_enc</a:t>
            </a:r>
            <a:r>
              <a:rPr lang="es-ES" dirty="0"/>
              <a:t> = round(T × 100), obteniendo valores 0..11,000 que caben holgadamente en 14 bits (máximo 16,383).</a:t>
            </a:r>
          </a:p>
        </p:txBody>
      </p:sp>
    </p:spTree>
    <p:extLst>
      <p:ext uri="{BB962C8B-B14F-4D97-AF65-F5344CB8AC3E}">
        <p14:creationId xmlns:p14="http://schemas.microsoft.com/office/powerpoint/2010/main" val="200776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F8B0E78-8629-2B36-012B-6DBDE34852D6}"/>
              </a:ext>
            </a:extLst>
          </p:cNvPr>
          <p:cNvSpPr txBox="1"/>
          <p:nvPr/>
        </p:nvSpPr>
        <p:spPr>
          <a:xfrm>
            <a:off x="450342" y="67116"/>
            <a:ext cx="1089736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5) ¿Qué complejidades introduce un </a:t>
            </a:r>
            <a:r>
              <a:rPr lang="es-ES" sz="1600" dirty="0" err="1"/>
              <a:t>payload</a:t>
            </a:r>
            <a:r>
              <a:rPr lang="es-ES" sz="1600" dirty="0"/>
              <a:t> restringido (pequeño)?</a:t>
            </a:r>
            <a:br>
              <a:rPr lang="es-ES" sz="1600" dirty="0"/>
            </a:br>
            <a:endParaRPr lang="es-ES" sz="1600" dirty="0"/>
          </a:p>
          <a:p>
            <a:r>
              <a:rPr lang="es-ES" sz="1600" dirty="0"/>
              <a:t>Un </a:t>
            </a:r>
            <a:r>
              <a:rPr lang="es-ES" sz="1600" dirty="0" err="1"/>
              <a:t>payload</a:t>
            </a:r>
            <a:r>
              <a:rPr lang="es-ES" sz="1600" dirty="0"/>
              <a:t> restringido introduce complejidades como cuantización y pérdida de precisión por redondeo, riesgo de </a:t>
            </a:r>
            <a:r>
              <a:rPr lang="es-ES" sz="1600" dirty="0" err="1"/>
              <a:t>overflow</a:t>
            </a:r>
            <a:r>
              <a:rPr lang="es-ES" sz="1600" dirty="0"/>
              <a:t> si un campo excede su presupuesto de bits, necesidad de mapear categorías a pocos bits, problemas de compatibilidad al evolucionar el </a:t>
            </a:r>
            <a:r>
              <a:rPr lang="es-ES" sz="1600" dirty="0" err="1"/>
              <a:t>layout</a:t>
            </a:r>
            <a:r>
              <a:rPr lang="es-ES" sz="1600" dirty="0"/>
              <a:t> y depuración menos cómoda que con JSON legible.</a:t>
            </a:r>
          </a:p>
          <a:p>
            <a:br>
              <a:rPr lang="es-ES" sz="1600" dirty="0"/>
            </a:br>
            <a:r>
              <a:rPr lang="es-ES" sz="1600" dirty="0"/>
              <a:t>6) ¿Cómo hacer que la temperatura quepa en 14 bits?</a:t>
            </a:r>
          </a:p>
          <a:p>
            <a:endParaRPr lang="es-ES" sz="1600" dirty="0"/>
          </a:p>
          <a:p>
            <a:r>
              <a:rPr lang="es-ES" sz="1600" dirty="0"/>
              <a:t>Para que la temperatura quepa en 14 bits se aplica punto fijo: multiplicar por 100, empaquetar </a:t>
            </a:r>
            <a:r>
              <a:rPr lang="es-ES" sz="1600" dirty="0" err="1"/>
              <a:t>T_enc</a:t>
            </a:r>
            <a:r>
              <a:rPr lang="es-ES" sz="1600" dirty="0"/>
              <a:t> en los 14 bits reservados y al decodificar dividir entre 100 para recuperar los dos decimales.</a:t>
            </a:r>
          </a:p>
          <a:p>
            <a:endParaRPr lang="es-ES" sz="1600" dirty="0"/>
          </a:p>
          <a:p>
            <a:r>
              <a:rPr lang="es-ES" sz="1600" dirty="0"/>
              <a:t>7) Si la humedad fuera </a:t>
            </a:r>
            <a:r>
              <a:rPr lang="es-ES" sz="1600" dirty="0" err="1"/>
              <a:t>float</a:t>
            </a:r>
            <a:r>
              <a:rPr lang="es-ES" sz="1600" dirty="0"/>
              <a:t> con 1 decimal, ¿qué decisiones tomar?</a:t>
            </a:r>
          </a:p>
          <a:p>
            <a:endParaRPr lang="es-ES" sz="1600" dirty="0"/>
          </a:p>
          <a:p>
            <a:r>
              <a:rPr lang="es-ES" sz="1600" dirty="0"/>
              <a:t>Si la humedad fuera flotante con un decimal (0.0–100.0), se codifica como </a:t>
            </a:r>
            <a:r>
              <a:rPr lang="es-ES" sz="1600" dirty="0" err="1"/>
              <a:t>H_enc</a:t>
            </a:r>
            <a:r>
              <a:rPr lang="es-ES" sz="1600" dirty="0"/>
              <a:t> = H × 10 (0..1000), lo que requiere 10 bits, habría que decidir entre reducir precisión de temperatura o humedad, reasignar el </a:t>
            </a:r>
            <a:r>
              <a:rPr lang="es-ES" sz="1600" dirty="0" err="1"/>
              <a:t>layout</a:t>
            </a:r>
            <a:r>
              <a:rPr lang="es-ES" sz="1600" dirty="0"/>
              <a:t> de bits (dar más a H y menos a T), o incluso enviar campos en mensajes alternos/aumentar el tamaño si la restricción lo permite.</a:t>
            </a:r>
            <a:br>
              <a:rPr lang="es-ES" sz="1600" dirty="0"/>
            </a:br>
            <a:endParaRPr lang="es-ES" sz="1600" dirty="0"/>
          </a:p>
          <a:p>
            <a:r>
              <a:rPr lang="es-ES" sz="1600" dirty="0"/>
              <a:t>8) ¿Qué parámetros/herramientas de Kafka ayudan si las restricciones fueran aún más fuertes?</a:t>
            </a:r>
          </a:p>
          <a:p>
            <a:endParaRPr lang="es-ES" sz="1600" dirty="0"/>
          </a:p>
          <a:p>
            <a:r>
              <a:rPr lang="es-ES" sz="1600" dirty="0"/>
              <a:t>Ante restricciones aún más fuertes se puede recurrir a compresión del </a:t>
            </a:r>
            <a:r>
              <a:rPr lang="es-ES" sz="1600" dirty="0" err="1"/>
              <a:t>producer</a:t>
            </a:r>
            <a:r>
              <a:rPr lang="es-ES" sz="1600" dirty="0"/>
              <a:t> (</a:t>
            </a:r>
            <a:r>
              <a:rPr lang="es-ES" sz="1600" dirty="0" err="1"/>
              <a:t>gzip</a:t>
            </a:r>
            <a:r>
              <a:rPr lang="es-ES" sz="1600" dirty="0"/>
              <a:t>/</a:t>
            </a:r>
            <a:r>
              <a:rPr lang="es-ES" sz="1600" dirty="0" err="1"/>
              <a:t>snappy</a:t>
            </a:r>
            <a:r>
              <a:rPr lang="es-ES" sz="1600" dirty="0"/>
              <a:t>/lz4/</a:t>
            </a:r>
            <a:r>
              <a:rPr lang="es-ES" sz="1600" dirty="0" err="1"/>
              <a:t>zstd</a:t>
            </a:r>
            <a:r>
              <a:rPr lang="es-ES" sz="1600" dirty="0"/>
              <a:t>), </a:t>
            </a:r>
            <a:r>
              <a:rPr lang="es-ES" sz="1600" dirty="0" err="1"/>
              <a:t>batching</a:t>
            </a:r>
            <a:r>
              <a:rPr lang="es-ES" sz="1600" dirty="0"/>
              <a:t> ajustando linger.ms y </a:t>
            </a:r>
            <a:r>
              <a:rPr lang="es-ES" sz="1600" dirty="0" err="1"/>
              <a:t>batch.size</a:t>
            </a:r>
            <a:r>
              <a:rPr lang="es-ES" sz="1600" dirty="0"/>
              <a:t>, serialización compacta con </a:t>
            </a:r>
            <a:r>
              <a:rPr lang="es-ES" sz="1600" dirty="0" err="1"/>
              <a:t>Avro</a:t>
            </a:r>
            <a:r>
              <a:rPr lang="es-ES" sz="1600" dirty="0"/>
              <a:t>/</a:t>
            </a:r>
            <a:r>
              <a:rPr lang="es-ES" sz="1600" dirty="0" err="1"/>
              <a:t>Protobuf</a:t>
            </a:r>
            <a:r>
              <a:rPr lang="es-ES" sz="1600" dirty="0"/>
              <a:t> o binario propio, filtrado y agregación en el borde con Kafka </a:t>
            </a:r>
            <a:r>
              <a:rPr lang="es-ES" sz="1600" dirty="0" err="1"/>
              <a:t>Streams</a:t>
            </a:r>
            <a:r>
              <a:rPr lang="es-ES" sz="1600" dirty="0"/>
              <a:t>/KSQL para reducir frecuencia/volumen, además de minimizar claves/</a:t>
            </a:r>
            <a:r>
              <a:rPr lang="es-ES" sz="1600" dirty="0" err="1"/>
              <a:t>headers</a:t>
            </a:r>
            <a:r>
              <a:rPr lang="es-ES" sz="1600" dirty="0"/>
              <a:t> y ajustar políticas de retención.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F71C95-B52C-6C4D-0CDA-D461F7C63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GT" altLang="es-G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payload restringido introduce complejidades como cuantización y pérdida de precisión por redondeo, riesgo de overflow si un campo excede su presupuesto de bits, necesidad de mapear categorías a pocos bits, problemas de compatibilidad al evolucionar el layout y depuración menos cómoda que con JSON legible.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GT" altLang="es-G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0802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1023</Words>
  <Application>Microsoft Office PowerPoint</Application>
  <PresentationFormat>Panorámica</PresentationFormat>
  <Paragraphs>37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consumer_3bytes_plot.py</vt:lpstr>
      <vt:lpstr>consumer_json_plot.py</vt:lpstr>
      <vt:lpstr>producer_3bytes.py</vt:lpstr>
      <vt:lpstr>producer_json.py</vt:lpstr>
      <vt:lpstr>Presentación de PowerPoint</vt:lpstr>
      <vt:lpstr>Flujo con 3 bytes (24 bits)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REYES MORALES, BRANDON JAVIER</dc:creator>
  <cp:lastModifiedBy>REYES MORALES, BRANDON JAVIER</cp:lastModifiedBy>
  <cp:revision>3</cp:revision>
  <dcterms:created xsi:type="dcterms:W3CDTF">2025-11-16T21:58:42Z</dcterms:created>
  <dcterms:modified xsi:type="dcterms:W3CDTF">2025-11-17T00:15:10Z</dcterms:modified>
</cp:coreProperties>
</file>